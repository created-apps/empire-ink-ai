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1B3A6B">
              <a:alpha val="0"/>
            </a:srgbClr>
          </a:solidFill>
          <a:ln w="25400">
            <a:solidFill>
              <a:srgbClr val="E887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1B3A6B">
              <a:alpha val="0"/>
            </a:srgbClr>
          </a:solidFill>
          <a:ln w="9525">
            <a:solidFill>
              <a:srgbClr val="F5B942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640080" cy="6400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94192" y="109728"/>
            <a:ext cx="640080" cy="6400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9728" y="4425696"/>
            <a:ext cx="640080" cy="6400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 flipV="1">
            <a:off x="8394192" y="4425696"/>
            <a:ext cx="640080" cy="64008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914400"/>
            <a:ext cx="1463040" cy="192024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2560320" y="384048"/>
            <a:ext cx="1371600" cy="329184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1" name="Text 3"/>
          <p:cNvSpPr/>
          <p:nvPr/>
        </p:nvSpPr>
        <p:spPr>
          <a:xfrm>
            <a:off x="2560320" y="3840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of India</a:t>
            </a:r>
            <a:endParaRPr lang="en-US" sz="850" dirty="0"/>
          </a:p>
        </p:txBody>
      </p:sp>
      <p:sp>
        <p:nvSpPr>
          <p:cNvPr id="12" name="Shape 4"/>
          <p:cNvSpPr/>
          <p:nvPr/>
        </p:nvSpPr>
        <p:spPr>
          <a:xfrm>
            <a:off x="4069080" y="384048"/>
            <a:ext cx="150876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4069080" y="3840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Studios</a:t>
            </a:r>
            <a:endParaRPr lang="en-US" sz="850" dirty="0"/>
          </a:p>
        </p:txBody>
      </p:sp>
      <p:sp>
        <p:nvSpPr>
          <p:cNvPr id="14" name="Text 6"/>
          <p:cNvSpPr/>
          <p:nvPr/>
        </p:nvSpPr>
        <p:spPr>
          <a:xfrm>
            <a:off x="2286000" y="82296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</a:t>
            </a:r>
            <a:endParaRPr lang="en-US" sz="8200" dirty="0"/>
          </a:p>
        </p:txBody>
      </p:sp>
      <p:sp>
        <p:nvSpPr>
          <p:cNvPr id="15" name="Text 7"/>
          <p:cNvSpPr/>
          <p:nvPr/>
        </p:nvSpPr>
        <p:spPr>
          <a:xfrm>
            <a:off x="22860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Ink</a:t>
            </a:r>
            <a:endParaRPr lang="en-US" sz="8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2944368"/>
            <a:ext cx="50292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286000" y="3200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Mughal Miniature Art Generator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2286000" y="3639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prompt. Watch history come alive.</a:t>
            </a:r>
            <a:endParaRPr lang="en-US" sz="13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1097280"/>
            <a:ext cx="1280160" cy="169164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0" y="4828032"/>
            <a:ext cx="9144000" cy="36576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B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8-Session Program  ·  No Prior Coding Experience Required  ·  Build Real AI Art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Empire &amp; Ink?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5029200" cy="4005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914400"/>
            <a:ext cx="5029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658368" cy="868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10241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Grand Vision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36192"/>
            <a:ext cx="457200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" y="1755648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is a web application that transforms simple text descriptions into stunning AI-generated images styled as Mughal miniature paintings.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type a prompt — "a cricket match at sunset in a Mughal garden" — and the app produces a beautiful artwork blending classical Mughal aesthetics with modern subjects.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 skills required. Just imagination.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532120" y="914400"/>
            <a:ext cx="3337560" cy="859536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532120" y="914400"/>
            <a:ext cx="333756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0972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44768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Prompt Input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144768" y="13350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idea — modern or historic — in plain English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532120" y="1920240"/>
            <a:ext cx="3337560" cy="859536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532120" y="1920240"/>
            <a:ext cx="3337560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210312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44768" y="20116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Image Generation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144768" y="23408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Stable Diffusion models transform text to Mughal art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532120" y="2926080"/>
            <a:ext cx="3337560" cy="859536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532120" y="2926080"/>
            <a:ext cx="3337560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310896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144768" y="3017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Customisation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144768" y="33467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era, colour palette, detail level &amp; art elements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532120" y="3931920"/>
            <a:ext cx="3337560" cy="859536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532120" y="3931920"/>
            <a:ext cx="3337560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4114800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144768" y="4023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 &amp; Share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6144768" y="43525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high-res images as posters, logos, or digital art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this app from scratch — no prior coding experience needed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Empire &amp; Ink Works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PIPELINE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" y="960120"/>
            <a:ext cx="1591056" cy="3401568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960120"/>
            <a:ext cx="1591056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" y="1078992"/>
            <a:ext cx="475488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52144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7472" y="2743200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any idea in plain language — "Mughal emperor riding a motorcycle at Agra"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847088" y="2395728"/>
            <a:ext cx="146304" cy="54864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920240" y="22768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B8A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993392" y="960120"/>
            <a:ext cx="1591056" cy="3401568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993392" y="960120"/>
            <a:ext cx="1591056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084832" y="1078992"/>
            <a:ext cx="475488" cy="27432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84832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152144"/>
            <a:ext cx="777240" cy="7772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084832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Enhancement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2084832" y="2743200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auto-appends Mughal style keywords, colour palettes, and art descriptors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584448" y="2395728"/>
            <a:ext cx="146304" cy="54864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0" y="22768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B8A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730752" y="960120"/>
            <a:ext cx="1591056" cy="3401568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730752" y="960120"/>
            <a:ext cx="1591056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822192" y="1078992"/>
            <a:ext cx="475488" cy="27432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822192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52144"/>
            <a:ext cx="777240" cy="7772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822192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3822192" y="2743200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/ free API creates the artwork using fine-tuned Mughal miniature style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321808" y="2395728"/>
            <a:ext cx="146304" cy="54864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394960" y="22768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B8A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468112" y="960120"/>
            <a:ext cx="1591056" cy="3401568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468112" y="960120"/>
            <a:ext cx="1591056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559552" y="1078992"/>
            <a:ext cx="475488" cy="27432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559552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52144"/>
            <a:ext cx="777240" cy="7772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559552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5559552" y="2743200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adjust style sliders, rerun, or tweak the prompt to get their perfect artwork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7059168" y="2395728"/>
            <a:ext cx="146304" cy="54864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132320" y="22768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B8A"/>
                </a:solidFill>
              </a:rPr>
              <a:t>▶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7205472" y="960120"/>
            <a:ext cx="1591056" cy="3401568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7205472" y="960120"/>
            <a:ext cx="1591056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296912" y="1078992"/>
            <a:ext cx="475488" cy="27432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296912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152144"/>
            <a:ext cx="777240" cy="77724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296912" y="2029968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Share</a:t>
            </a:r>
            <a:endParaRPr lang="en-US" sz="1250" dirty="0"/>
          </a:p>
        </p:txBody>
      </p:sp>
      <p:sp>
        <p:nvSpPr>
          <p:cNvPr id="51" name="Text 43"/>
          <p:cNvSpPr/>
          <p:nvPr/>
        </p:nvSpPr>
        <p:spPr>
          <a:xfrm>
            <a:off x="7296912" y="2743200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PNG/JPG poster. Share to social, use as profile art, or print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C4A06A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274320" y="4480560"/>
            <a:ext cx="64008" cy="5486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457200" y="44805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pipeline runs on FREE models — students can generate unlimited art at zero cost using Hugging Face &amp; open-source tools.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Use Cases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932688"/>
            <a:ext cx="274320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932688"/>
            <a:ext cx="2743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264" y="109728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Art &amp; Posters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11480" y="164592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unique Mughal-style artwork for room décor, gifts, social media profiles, or personal collections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182112" y="932688"/>
            <a:ext cx="274320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82112" y="932688"/>
            <a:ext cx="2743200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1155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77056" y="109728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Heritage Tech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319272" y="164592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Museums, government heritage projects, and tourism boards can use AI to bring historical art styles to life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9904" y="932688"/>
            <a:ext cx="274320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89904" y="932688"/>
            <a:ext cx="2743200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11556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84848" y="109728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Publishing &amp; Education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27064" y="164592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publishers and educators can generate historically-styled illustrations for Indian history chapters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2926080"/>
            <a:ext cx="2743200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089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264" y="309067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Wedding &amp; Event Design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11480" y="3639312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can generate personalised Mughal miniature portraits and invitation art for royal-theme events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182112" y="2926080"/>
            <a:ext cx="274320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182112" y="2926080"/>
            <a:ext cx="2743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1089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877056" y="309067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&amp; Brand Identity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319272" y="3639312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and brands can create logos, packaging, and print designs infused with classical Mughal motifs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2926080"/>
            <a:ext cx="274320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089904" y="2926080"/>
            <a:ext cx="2743200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064" y="3108960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784848" y="309067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Portfolio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27064" y="3639312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AI art app is an extraordinary portfolio piece for students applying to design, tech, or creative roles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uniquely bridges AI technology with India's rich cultural heritage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1168" y="914400"/>
            <a:ext cx="2029968" cy="393192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1168" y="914400"/>
            <a:ext cx="2029968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07899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" y="181051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" y="2377440"/>
            <a:ext cx="1481328" cy="36576"/>
          </a:xfrm>
          <a:prstGeom prst="rect">
            <a:avLst/>
          </a:prstGeom>
          <a:solidFill>
            <a:srgbClr val="1B3A6B">
              <a:alpha val="60000"/>
            </a:srgbClr>
          </a:solidFill>
          <a:ln w="12700">
            <a:solidFill>
              <a:srgbClr val="1B3A6B">
                <a:alpha val="6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33856" y="2340864"/>
            <a:ext cx="164592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02336" y="257860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25237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(Mughal-styled UI)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02336" y="309067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3035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(Interactivity)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02336" y="3602736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3547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(calls backend)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02336" y="4114800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40599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&amp; download view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414016" y="914400"/>
            <a:ext cx="2029968" cy="393192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414016" y="914400"/>
            <a:ext cx="2029968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078992"/>
            <a:ext cx="640080" cy="6400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414016" y="181051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2688336" y="2377440"/>
            <a:ext cx="1481328" cy="36576"/>
          </a:xfrm>
          <a:prstGeom prst="rect">
            <a:avLst/>
          </a:prstGeom>
          <a:solidFill>
            <a:srgbClr val="E8871A">
              <a:alpha val="60000"/>
            </a:srgbClr>
          </a:solidFill>
          <a:ln w="12700">
            <a:solidFill>
              <a:srgbClr val="E8871A">
                <a:alpha val="6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46704" y="2340864"/>
            <a:ext cx="164592" cy="109728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615184" y="2578608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761488" y="25237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 / FastAPI)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615184" y="309067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761488" y="3035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2615184" y="3602736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761488" y="3547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enhancement logic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2615184" y="4114800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61488" y="40599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 &amp; sessions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626864" y="914400"/>
            <a:ext cx="2029968" cy="393192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626864" y="914400"/>
            <a:ext cx="2029968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078992"/>
            <a:ext cx="640080" cy="6400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626864" y="181051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A31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A31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4901184" y="2377440"/>
            <a:ext cx="1481328" cy="36576"/>
          </a:xfrm>
          <a:prstGeom prst="rect">
            <a:avLst/>
          </a:prstGeom>
          <a:solidFill>
            <a:srgbClr val="A31621">
              <a:alpha val="60000"/>
            </a:srgbClr>
          </a:solidFill>
          <a:ln w="12700">
            <a:solidFill>
              <a:srgbClr val="A31621">
                <a:alpha val="60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559552" y="2340864"/>
            <a:ext cx="164592" cy="109728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828032" y="2578608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974336" y="25237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Inference API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828032" y="309067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974336" y="3035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v1.5 / SDXL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828032" y="3602736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974336" y="3547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Mughal LoRA style weights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4828032" y="4114800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974336" y="40599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API keys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6839712" y="914400"/>
            <a:ext cx="2029968" cy="393192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52" name="Shape 46"/>
          <p:cNvSpPr/>
          <p:nvPr/>
        </p:nvSpPr>
        <p:spPr>
          <a:xfrm>
            <a:off x="6839712" y="914400"/>
            <a:ext cx="2029968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078992"/>
            <a:ext cx="640080" cy="64008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6839712" y="181051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6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1B6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7114032" y="2377440"/>
            <a:ext cx="1481328" cy="36576"/>
          </a:xfrm>
          <a:prstGeom prst="rect">
            <a:avLst/>
          </a:prstGeom>
          <a:solidFill>
            <a:srgbClr val="1B6B45">
              <a:alpha val="60000"/>
            </a:srgbClr>
          </a:solidFill>
          <a:ln w="12700">
            <a:solidFill>
              <a:srgbClr val="1B6B45">
                <a:alpha val="6000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7772400" y="2340864"/>
            <a:ext cx="164592" cy="109728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040880" y="2578608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7187184" y="25237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prompt templates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7040880" y="3090672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7187184" y="30358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image storage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7040880" y="3602736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7187184" y="3547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Render / Railway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7040880" y="4114800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7187184" y="40599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Google Colab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free and open-source — students pay nothing to build and deploy their 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Program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× TIMES OF INDIA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297680" cy="3913632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960120"/>
            <a:ext cx="4297680" cy="64008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1556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097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CreatED Studios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51560" y="14813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Times of India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10512"/>
            <a:ext cx="3840480" cy="18288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08483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6384" y="20574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premier student tech-education initiative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54203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86384" y="25146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Times of India's pan-India reach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99923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86384" y="29718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students with zero prior coding experience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456432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86384" y="34290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Project-based, mentor-led hands-on learning</a:t>
            </a:r>
            <a:endParaRPr lang="en-US" sz="11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" y="3913632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86384" y="38862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and own a real, deployed product</a:t>
            </a:r>
            <a:endParaRPr lang="en-US" sz="11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" y="4370832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86384" y="43434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certificate on successful completion</a:t>
            </a:r>
            <a:endParaRPr lang="en-US" sz="1100" dirty="0"/>
          </a:p>
        </p:txBody>
      </p:sp>
      <p:sp>
        <p:nvSpPr>
          <p:cNvPr id="27" name="Shape 16"/>
          <p:cNvSpPr/>
          <p:nvPr/>
        </p:nvSpPr>
        <p:spPr>
          <a:xfrm>
            <a:off x="4846320" y="960120"/>
            <a:ext cx="4023360" cy="1133856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8" name="Shape 17"/>
          <p:cNvSpPr/>
          <p:nvPr/>
        </p:nvSpPr>
        <p:spPr>
          <a:xfrm>
            <a:off x="4846320" y="960120"/>
            <a:ext cx="402336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5029200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200" dirty="0"/>
          </a:p>
        </p:txBody>
      </p:sp>
      <p:sp>
        <p:nvSpPr>
          <p:cNvPr id="30" name="Text 19"/>
          <p:cNvSpPr/>
          <p:nvPr/>
        </p:nvSpPr>
        <p:spPr>
          <a:xfrm>
            <a:off x="5897880" y="1051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2000" dirty="0"/>
          </a:p>
        </p:txBody>
      </p:sp>
      <p:sp>
        <p:nvSpPr>
          <p:cNvPr id="31" name="Text 20"/>
          <p:cNvSpPr/>
          <p:nvPr/>
        </p:nvSpPr>
        <p:spPr>
          <a:xfrm>
            <a:off x="5897880" y="1490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each</a:t>
            </a:r>
            <a:endParaRPr lang="en-US" sz="1100" dirty="0"/>
          </a:p>
        </p:txBody>
      </p:sp>
      <p:sp>
        <p:nvSpPr>
          <p:cNvPr id="32" name="Shape 21"/>
          <p:cNvSpPr/>
          <p:nvPr/>
        </p:nvSpPr>
        <p:spPr>
          <a:xfrm>
            <a:off x="4846320" y="2267712"/>
            <a:ext cx="4023360" cy="1133856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4846320" y="2267712"/>
            <a:ext cx="4023360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5029200" y="23591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31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35" name="Text 24"/>
          <p:cNvSpPr/>
          <p:nvPr/>
        </p:nvSpPr>
        <p:spPr>
          <a:xfrm>
            <a:off x="5897880" y="23591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</a:t>
            </a:r>
            <a:endParaRPr lang="en-US" sz="2000" dirty="0"/>
          </a:p>
        </p:txBody>
      </p:sp>
      <p:sp>
        <p:nvSpPr>
          <p:cNvPr id="36" name="Text 25"/>
          <p:cNvSpPr/>
          <p:nvPr/>
        </p:nvSpPr>
        <p:spPr>
          <a:xfrm>
            <a:off x="5897880" y="2798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coding experience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4846320" y="3575304"/>
            <a:ext cx="4023360" cy="1133856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4846320" y="3575304"/>
            <a:ext cx="4023360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5029200" y="36667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200" dirty="0"/>
          </a:p>
        </p:txBody>
      </p:sp>
      <p:sp>
        <p:nvSpPr>
          <p:cNvPr id="40" name="Text 29"/>
          <p:cNvSpPr/>
          <p:nvPr/>
        </p:nvSpPr>
        <p:spPr>
          <a:xfrm>
            <a:off x="5897880" y="36667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Art App</a:t>
            </a:r>
            <a:endParaRPr lang="en-US" sz="2000" dirty="0"/>
          </a:p>
        </p:txBody>
      </p:sp>
      <p:sp>
        <p:nvSpPr>
          <p:cNvPr id="41" name="Text 30"/>
          <p:cNvSpPr/>
          <p:nvPr/>
        </p:nvSpPr>
        <p:spPr>
          <a:xfrm>
            <a:off x="5897880" y="4105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deployed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8-Session Curriculum at a Glance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1168" y="93268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1168" y="932688"/>
            <a:ext cx="2029968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932688"/>
            <a:ext cx="2029968" cy="347472"/>
          </a:xfrm>
          <a:prstGeom prst="rect">
            <a:avLst/>
          </a:prstGeom>
          <a:solidFill>
            <a:srgbClr val="1B3A6B">
              <a:alpha val="82000"/>
            </a:srgbClr>
          </a:solidFill>
          <a:ln w="12700">
            <a:solidFill>
              <a:srgbClr val="1B3A6B">
                <a:alpha val="8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168" y="932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138988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the Art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Possible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395728" y="93268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395728" y="932688"/>
            <a:ext cx="2029968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95728" y="932688"/>
            <a:ext cx="2029968" cy="347472"/>
          </a:xfrm>
          <a:prstGeom prst="rect">
            <a:avLst/>
          </a:prstGeom>
          <a:solidFill>
            <a:srgbClr val="E8871A">
              <a:alpha val="82000"/>
            </a:srgbClr>
          </a:solidFill>
          <a:ln w="12700">
            <a:solidFill>
              <a:srgbClr val="E8871A">
                <a:alpha val="8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95728" y="932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871216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487168" y="138988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90288" y="93268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90288" y="932688"/>
            <a:ext cx="2029968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90288" y="932688"/>
            <a:ext cx="2029968" cy="347472"/>
          </a:xfrm>
          <a:prstGeom prst="rect">
            <a:avLst/>
          </a:prstGeom>
          <a:solidFill>
            <a:srgbClr val="A31621">
              <a:alpha val="82000"/>
            </a:srgbClr>
          </a:solidFill>
          <a:ln w="12700">
            <a:solidFill>
              <a:srgbClr val="A31621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90288" y="932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65776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81728" y="138988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Image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784848" y="93268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784848" y="932688"/>
            <a:ext cx="2029968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84848" y="932688"/>
            <a:ext cx="2029968" cy="347472"/>
          </a:xfrm>
          <a:prstGeom prst="rect">
            <a:avLst/>
          </a:prstGeom>
          <a:solidFill>
            <a:srgbClr val="1B3A6B">
              <a:alpha val="82000"/>
            </a:srgbClr>
          </a:solidFill>
          <a:ln w="12700">
            <a:solidFill>
              <a:srgbClr val="1B3A6B">
                <a:alpha val="82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84848" y="932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60336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Craft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76288" y="138988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201168" y="294436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01168" y="2944368"/>
            <a:ext cx="2029968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1168" y="2944368"/>
            <a:ext cx="2029968" cy="347472"/>
          </a:xfrm>
          <a:prstGeom prst="rect">
            <a:avLst/>
          </a:prstGeom>
          <a:solidFill>
            <a:srgbClr val="1B6B45">
              <a:alpha val="82000"/>
            </a:srgbClr>
          </a:solidFill>
          <a:ln w="12700">
            <a:solidFill>
              <a:srgbClr val="1B6B45">
                <a:alpha val="8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01168" y="2944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76656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92608" y="340156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2395728" y="294436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395728" y="2944368"/>
            <a:ext cx="2029968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95728" y="2944368"/>
            <a:ext cx="2029968" cy="347472"/>
          </a:xfrm>
          <a:prstGeom prst="rect">
            <a:avLst/>
          </a:prstGeom>
          <a:solidFill>
            <a:srgbClr val="E8871A">
              <a:alpha val="82000"/>
            </a:srgbClr>
          </a:solidFill>
          <a:ln w="12700">
            <a:solidFill>
              <a:srgbClr val="E8871A">
                <a:alpha val="82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395728" y="2944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S6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2871216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487168" y="340156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Mughal UI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4590288" y="294436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590288" y="2944368"/>
            <a:ext cx="2029968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590288" y="2944368"/>
            <a:ext cx="2029968" cy="347472"/>
          </a:xfrm>
          <a:prstGeom prst="rect">
            <a:avLst/>
          </a:prstGeom>
          <a:solidFill>
            <a:srgbClr val="A31621">
              <a:alpha val="82000"/>
            </a:srgbClr>
          </a:solidFill>
          <a:ln w="12700">
            <a:solidFill>
              <a:srgbClr val="A31621">
                <a:alpha val="82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90288" y="2944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065776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681728" y="340156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784848" y="2944368"/>
            <a:ext cx="2029968" cy="178308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784848" y="2944368"/>
            <a:ext cx="2029968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784848" y="2944368"/>
            <a:ext cx="2029968" cy="347472"/>
          </a:xfrm>
          <a:prstGeom prst="rect">
            <a:avLst/>
          </a:prstGeom>
          <a:solidFill>
            <a:srgbClr val="1B3A6B">
              <a:alpha val="82000"/>
            </a:srgbClr>
          </a:solidFill>
          <a:ln w="12700">
            <a:solidFill>
              <a:srgbClr val="1B3A6B">
                <a:alpha val="82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784848" y="2944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S8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260336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876288" y="3401568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Showcase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is 1 hour · Hands-on activity every session · Builds toward a live deployed 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1 &amp; 2 — AI Foundations &amp; Python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8600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886968"/>
            <a:ext cx="42793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the Art of the Possible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3657600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what AI is, how image generation works, and get inspired by the finished Empire &amp; Ink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5760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" y="290779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 (in plain English)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322783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text-to-image AI models work (no maths!)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" y="354787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6072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Mughal miniature art — history &amp; visual style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1480" y="386791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finished Empire &amp; Ink app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setup: VS Code, Python, browser, API keys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20040" y="4626864"/>
            <a:ext cx="4096512" cy="274320"/>
          </a:xfrm>
          <a:prstGeom prst="rect">
            <a:avLst/>
          </a:prstGeom>
          <a:solidFill>
            <a:srgbClr val="1B3A6B">
              <a:alpha val="25000"/>
            </a:srgbClr>
          </a:solidFill>
          <a:ln w="12700">
            <a:solidFill>
              <a:srgbClr val="1B3A6B">
                <a:alpha val="2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93192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Students write 5 creative prompts — e.g. "Bollywood star in a Mughal durbar" — and predict what images they'd generate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90872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90872" y="886968"/>
            <a:ext cx="4279392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solidFill>
            <a:srgbClr val="E8871A">
              <a:alpha val="85000"/>
            </a:srgbClr>
          </a:solidFill>
          <a:ln w="12700">
            <a:solidFill>
              <a:srgbClr val="E8871A">
                <a:alpha val="8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28032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Essentials</a:t>
            </a:r>
            <a:endParaRPr lang="en-US" sz="15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28800"/>
            <a:ext cx="3657600" cy="1645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28032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Write your first Python code and understand the language that powers the entire backend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28032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873752" y="290779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38344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strings, numbers &amp; print statements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873752" y="322783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38344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logic (controlling program flow)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73752" y="354787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038344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reusable blocks of code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873752" y="386791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038344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dictionaries (storing prompt templates)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873752" y="418795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038344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&amp; how to install them (pip)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82312" y="4626864"/>
            <a:ext cx="4096512" cy="274320"/>
          </a:xfrm>
          <a:prstGeom prst="rect">
            <a:avLst/>
          </a:prstGeom>
          <a:solidFill>
            <a:srgbClr val="E8871A">
              <a:alpha val="25000"/>
            </a:srgbClr>
          </a:solidFill>
          <a:ln w="12700">
            <a:solidFill>
              <a:srgbClr val="E8871A">
                <a:alpha val="2500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855464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Build a "Prompt Builder" Python script — takes user input, appends Mughal style keywords, prints the enhanced prompt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3 &amp; 4 — AI APIs &amp; Prompt Engineering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8600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886968"/>
            <a:ext cx="4279392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solidFill>
            <a:srgbClr val="A31621">
              <a:alpha val="85000"/>
            </a:srgbClr>
          </a:solidFill>
          <a:ln w="12700">
            <a:solidFill>
              <a:srgbClr val="A31621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to AI Image APIs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3657600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Python call a real AI model and get back a Mughal-styled image from a text prompt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5760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1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" y="290779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API? (delivery service analogy)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322783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Hugging Face free account &amp; API key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" y="354787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6072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HTTP requests with Python (requests library)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1480" y="386791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API responses &amp; saving image files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what to do when things go wrong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20040" y="4626864"/>
            <a:ext cx="4096512" cy="274320"/>
          </a:xfrm>
          <a:prstGeom prst="rect">
            <a:avLst/>
          </a:prstGeom>
          <a:solidFill>
            <a:srgbClr val="A31621">
              <a:alpha val="25000"/>
            </a:srgbClr>
          </a:solidFill>
          <a:ln w="12700">
            <a:solidFill>
              <a:srgbClr val="A31621">
                <a:alpha val="2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93192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Students send a prompt to Hugging Face from Python and display the returned Mughal image on their screen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90872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90872" y="886968"/>
            <a:ext cx="42793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>
                <a:alpha val="8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28032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 Prompt Engineering</a:t>
            </a:r>
            <a:endParaRPr lang="en-US" sz="15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28800"/>
            <a:ext cx="3657600" cy="1645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28032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how to craft prompts that produce consistently beautiful Mughal-style images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28032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873752" y="290779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38344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prompts matter — the same scene, different results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873752" y="322783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38344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Mughal art descriptors: flat perspective, jewel tones, borders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73752" y="354787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038344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prompts — telling the AI what NOT to draw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873752" y="386791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038344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prompt template system in Python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873752" y="418795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038344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presets: Akbari, Jahangiri, Shahjahani schools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82312" y="4626864"/>
            <a:ext cx="4096512" cy="274320"/>
          </a:xfrm>
          <a:prstGeom prst="rect">
            <a:avLst/>
          </a:prstGeom>
          <a:solidFill>
            <a:srgbClr val="1B3A6B">
              <a:alpha val="25000"/>
            </a:srgbClr>
          </a:solidFill>
          <a:ln w="12700">
            <a:solidFill>
              <a:srgbClr val="1B3A6B">
                <a:alpha val="2500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855464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Students build 3 style presets and compare outputs — which preset creates the most beautiful result?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5 &amp; 6 — Backend &amp; Mughal Frontend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8600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886968"/>
            <a:ext cx="4279392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solidFill>
            <a:srgbClr val="1B6B45">
              <a:alpha val="85000"/>
            </a:srgbClr>
          </a:solidFill>
          <a:ln w="12700">
            <a:solidFill>
              <a:srgbClr val="1B6B45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Flask Backend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3657600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the Python server that takes user prompts, calls the AI, and returns generated images to the frontend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5760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" y="2907792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introduction — Python's web framework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3227832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API routes: POST /generate endpoint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" y="3547872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6072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prompt data from frontend (JSON)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1480" y="3867912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AI API and saving image to server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image URL back to the frontend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20040" y="4626864"/>
            <a:ext cx="4096512" cy="274320"/>
          </a:xfrm>
          <a:prstGeom prst="rect">
            <a:avLst/>
          </a:prstGeom>
          <a:solidFill>
            <a:srgbClr val="1B6B45">
              <a:alpha val="25000"/>
            </a:srgbClr>
          </a:solidFill>
          <a:ln w="12700">
            <a:solidFill>
              <a:srgbClr val="1B6B45">
                <a:alpha val="2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93192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Test the full API using Postman — send a prompt, get back a URL to a freshly generated Mughal image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90872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90872" y="886968"/>
            <a:ext cx="4279392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solidFill>
            <a:srgbClr val="E8871A">
              <a:alpha val="85000"/>
            </a:srgbClr>
          </a:solidFill>
          <a:ln w="12700">
            <a:solidFill>
              <a:srgbClr val="E8871A">
                <a:alpha val="8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28032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the Mughal UI</a:t>
            </a:r>
            <a:endParaRPr lang="en-US" sz="15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28800"/>
            <a:ext cx="3657600" cy="1645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28032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beautiful, ornate frontend inspired by Mughal miniature aesthetics that users actually love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28032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873752" y="290779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38344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layout: prompt box, gallery, style selector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873752" y="322783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38344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Mughal theme: jewel colours, arch shapes, borders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73752" y="354787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038344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decorative Devanagari/serif pairings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873752" y="386791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038344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JavaScript: sending fetch() requests to Flask API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873752" y="4187952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038344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returned image in the gallery section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82312" y="4626864"/>
            <a:ext cx="4096512" cy="274320"/>
          </a:xfrm>
          <a:prstGeom prst="rect">
            <a:avLst/>
          </a:prstGeom>
          <a:solidFill>
            <a:srgbClr val="E8871A">
              <a:alpha val="25000"/>
            </a:srgbClr>
          </a:solidFill>
          <a:ln w="12700">
            <a:solidFill>
              <a:srgbClr val="E8871A">
                <a:alpha val="2500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855464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Style the app with Mughal colours and ornate CSS borders — make it look like a royal art studio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7 &amp; 8 — Integration &amp; Art Showcase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8600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886968"/>
            <a:ext cx="4279392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solidFill>
            <a:srgbClr val="A31621">
              <a:alpha val="85000"/>
            </a:srgbClr>
          </a:solidFill>
          <a:ln w="12700">
            <a:solidFill>
              <a:srgbClr val="A31621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Integration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3657600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Connect the beautiful frontend to the working backend and ensure the full art generation pipeline runs flawlessly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5760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1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" y="290779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fetch() calls to Flask routes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322783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gallery — new images appear without page reload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" y="354787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6072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selector controls — dropdown sends preset to API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1480" y="386791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 and error message handling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— type prompt, receive Mughal art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20040" y="4626864"/>
            <a:ext cx="4096512" cy="274320"/>
          </a:xfrm>
          <a:prstGeom prst="rect">
            <a:avLst/>
          </a:prstGeom>
          <a:solidFill>
            <a:srgbClr val="A31621">
              <a:alpha val="25000"/>
            </a:srgbClr>
          </a:solidFill>
          <a:ln w="12700">
            <a:solidFill>
              <a:srgbClr val="A31621">
                <a:alpha val="2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93192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Students generate 3 full artworks live — test all style presets and confirm download works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90872" y="886968"/>
            <a:ext cx="4279392" cy="4078224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90872" y="886968"/>
            <a:ext cx="42793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>
                <a:alpha val="8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82312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28032" y="1371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 Art Showcase 🏛️</a:t>
            </a:r>
            <a:endParaRPr lang="en-US" sz="14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28800"/>
            <a:ext cx="3657600" cy="1645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28032" y="20116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Deploy the live app to the internet and present the finished Empire &amp; Ink project to peers and mentors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28032" y="2542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873752" y="290779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38344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committing the full project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873752" y="322783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38344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deployment with Render / Railway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73752" y="354787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038344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app URL accessible to anyone, anywhere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873752" y="386791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038344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showcase presentation (1 min pitch)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873752" y="418795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038344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Showcase: live generation, Q&amp;A, certificates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82312" y="4626864"/>
            <a:ext cx="4096512" cy="274320"/>
          </a:xfrm>
          <a:prstGeom prst="rect">
            <a:avLst/>
          </a:prstGeom>
          <a:solidFill>
            <a:srgbClr val="1B3A6B">
              <a:alpha val="25000"/>
            </a:srgbClr>
          </a:solidFill>
          <a:ln w="12700">
            <a:solidFill>
              <a:srgbClr val="1B3A6B">
                <a:alpha val="2500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855464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Activity: Students share their live URL — everyone generates one image on each other's app and votes for the most creative artwork!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Build Phases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" y="896112"/>
            <a:ext cx="8631936" cy="713232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896112"/>
            <a:ext cx="8631936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" y="1078992"/>
            <a:ext cx="804672" cy="274320"/>
          </a:xfrm>
          <a:prstGeom prst="rect">
            <a:avLst/>
          </a:prstGeom>
          <a:solidFill>
            <a:srgbClr val="1B3A6B">
              <a:alpha val="88000"/>
            </a:srgbClr>
          </a:solidFill>
          <a:ln w="12700">
            <a:solidFill>
              <a:srgbClr val="1B3A6B">
                <a:alpha val="8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107899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98448" y="969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Foundation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98448" y="12984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 – S4)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61488" y="1060704"/>
            <a:ext cx="36576" cy="365760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71216" y="98755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Python, connect to Hugging Face API, call Stable Diffusion, master prompt engineering and Mughal art style presets. The intelligence of the app is born here.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56032" y="1719072"/>
            <a:ext cx="8631936" cy="713232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1719072"/>
            <a:ext cx="8631936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1901952"/>
            <a:ext cx="804672" cy="274320"/>
          </a:xfrm>
          <a:prstGeom prst="rect">
            <a:avLst/>
          </a:prstGeom>
          <a:solidFill>
            <a:srgbClr val="E8871A">
              <a:alpha val="88000"/>
            </a:srgbClr>
          </a:solidFill>
          <a:ln w="12700">
            <a:solidFill>
              <a:srgbClr val="E8871A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19019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298448" y="17922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Server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98448" y="2121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(S5)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61488" y="1883664"/>
            <a:ext cx="36576" cy="365760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71216" y="181051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Flask API server that receives prompts from the frontend, fires the AI model, saves generated images, and returns image URLs. The backbone of the app.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" y="2542032"/>
            <a:ext cx="8631936" cy="713232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56032" y="2542032"/>
            <a:ext cx="8631936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4048" y="2724912"/>
            <a:ext cx="804672" cy="274320"/>
          </a:xfrm>
          <a:prstGeom prst="rect">
            <a:avLst/>
          </a:prstGeom>
          <a:solidFill>
            <a:srgbClr val="A31621">
              <a:alpha val="88000"/>
            </a:srgbClr>
          </a:solidFill>
          <a:ln w="12700">
            <a:solidFill>
              <a:srgbClr val="A31621">
                <a:alpha val="8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27249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298448" y="2615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Mughal Frontend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98448" y="2944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(S6)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61488" y="2706624"/>
            <a:ext cx="36576" cy="365760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71216" y="263347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ornate web interface — prompt box, style selector, image gallery — all styled with Mughal jewel tones, arch motifs, and classical decorative elements.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56032" y="3364992"/>
            <a:ext cx="8631936" cy="713232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56032" y="3364992"/>
            <a:ext cx="8631936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84048" y="3547872"/>
            <a:ext cx="804672" cy="274320"/>
          </a:xfrm>
          <a:prstGeom prst="rect">
            <a:avLst/>
          </a:prstGeom>
          <a:solidFill>
            <a:srgbClr val="1B6B45">
              <a:alpha val="88000"/>
            </a:srgbClr>
          </a:solidFill>
          <a:ln w="12700">
            <a:solidFill>
              <a:srgbClr val="1B6B45">
                <a:alpha val="88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4048" y="354787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298448" y="3438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298448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(S7)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2761488" y="3529584"/>
            <a:ext cx="36576" cy="365760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871216" y="345643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frontend to backend. Dynamic gallery updates, loading states, error handling, and end-to-end testing. The complete text-to-Mughal-art pipeline comes alive.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56032" y="4187952"/>
            <a:ext cx="8631936" cy="713232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256032" y="4187952"/>
            <a:ext cx="8631936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4048" y="4370832"/>
            <a:ext cx="804672" cy="274320"/>
          </a:xfrm>
          <a:prstGeom prst="rect">
            <a:avLst/>
          </a:prstGeom>
          <a:solidFill>
            <a:srgbClr val="1B3A6B">
              <a:alpha val="88000"/>
            </a:srgbClr>
          </a:solidFill>
          <a:ln w="12700">
            <a:solidFill>
              <a:srgbClr val="1B3A6B">
                <a:alpha val="88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4048" y="43708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98448" y="42611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Deploy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1298448" y="45902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(S8)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2761488" y="4352544"/>
            <a:ext cx="36576" cy="365760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871216" y="4279392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GitHub, deploy on Render for a live public URL. Prepare showcase pitch. Students demo their live app to mentors, peers, and receive their certificates.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Deliverables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TAKE HOME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" y="932688"/>
            <a:ext cx="2761488" cy="173736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932688"/>
            <a:ext cx="2761488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11556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544" y="108813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Art Generator App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93192" y="1609344"/>
            <a:ext cx="2505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publicly deployed Empire &amp; Ink instance — students share their unique URL and anyone can generate Mughal art from it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82112" y="932688"/>
            <a:ext cx="2761488" cy="173736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82112" y="932688"/>
            <a:ext cx="2761488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115568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9624" y="108813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Source Code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319272" y="1609344"/>
            <a:ext cx="2505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Python + HTML/CSS/JS codebase on GitHub — a rare AI + web portfolio project for college/internship applications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08192" y="932688"/>
            <a:ext cx="2761488" cy="173736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08192" y="932688"/>
            <a:ext cx="2761488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115568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75704" y="108813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Guide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45352" y="1609344"/>
            <a:ext cx="2505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library of Mughal art style presets and negative prompts they crafted — reusable for any future AI art project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56032" y="2852928"/>
            <a:ext cx="2761488" cy="173736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56032" y="2852928"/>
            <a:ext cx="2761488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035808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544" y="300837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Report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93192" y="3529584"/>
            <a:ext cx="2505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summary covering app architecture, design decisions, AI model choices, and reflection on what they built and learned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182112" y="2852928"/>
            <a:ext cx="2761488" cy="173736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182112" y="2852928"/>
            <a:ext cx="2761488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035808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849624" y="300837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of Completion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319272" y="3529584"/>
            <a:ext cx="2505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CreatED Studios × Times of India certificate recognising completion of an AI Application Development programme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08192" y="2852928"/>
            <a:ext cx="2761488" cy="173736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108192" y="2852928"/>
            <a:ext cx="2761488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3035808"/>
            <a:ext cx="438912" cy="4389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775704" y="300837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Tech Skills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45352" y="3529584"/>
            <a:ext cx="2505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REST APIs, prompt engineering, HTML/CSS, JavaScript, Flask, Git, and cloud deployment — all from zero experience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graduate with real AI skills, a live portfolio project, and an official certificate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5400" y="0"/>
            <a:ext cx="228600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15400" y="594360"/>
            <a:ext cx="228600" cy="182880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Students Will Gain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932688"/>
            <a:ext cx="420624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932688"/>
            <a:ext cx="420624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9728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1097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09344"/>
            <a:ext cx="3840480" cy="14630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5488" y="184708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0080" y="1792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5488" y="2231136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loops, data structures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5488" y="2615184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external libraries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36592" y="932688"/>
            <a:ext cx="420624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36592" y="932688"/>
            <a:ext cx="4206240" cy="64008"/>
          </a:xfrm>
          <a:prstGeom prst="rect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09728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9824" y="1097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31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Generative Models</a:t>
            </a:r>
            <a:endParaRPr lang="en-US" sz="14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609344"/>
            <a:ext cx="3840480" cy="14630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937760" y="1847088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102352" y="1792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diffusion models work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937760" y="2231136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102352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ecosystem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937760" y="2615184"/>
            <a:ext cx="91440" cy="91440"/>
          </a:xfrm>
          <a:prstGeom prst="ellipse">
            <a:avLst/>
          </a:prstGeom>
          <a:solidFill>
            <a:srgbClr val="A31621"/>
          </a:solidFill>
          <a:ln w="12700">
            <a:solidFill>
              <a:srgbClr val="A31621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102352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style control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274320" y="2926080"/>
            <a:ext cx="420624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74320" y="2926080"/>
            <a:ext cx="4206240" cy="64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90672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87552" y="30906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Development</a:t>
            </a:r>
            <a:endParaRPr lang="en-US" sz="14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602736"/>
            <a:ext cx="3840480" cy="14630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475488" y="3840480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40080" y="3785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frontend design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475488" y="4224528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40080" y="4169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Fetch API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475488" y="4608576"/>
            <a:ext cx="91440" cy="91440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4553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&amp; REST APIs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4736592" y="2926080"/>
            <a:ext cx="420624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BB8A"/>
            </a:solidFill>
            <a:prstDash val="solid"/>
          </a:ln>
          <a:effectLst>
            <a:outerShdw sx="100000" sy="100000" kx="0" ky="0" algn="bl" rotWithShape="0" blurRad="152400" dist="50800" dir="8100000">
              <a:srgbClr val="2C1810">
                <a:alpha val="3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736592" y="2926080"/>
            <a:ext cx="4206240" cy="64008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090672"/>
            <a:ext cx="438912" cy="43891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449824" y="30906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Cultural Literacy</a:t>
            </a:r>
            <a:endParaRPr lang="en-US" sz="145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3602736"/>
            <a:ext cx="3840480" cy="146304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4937760" y="3840480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5102352" y="3785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Mughal miniature art history</a:t>
            </a:r>
            <a:endParaRPr lang="en-US" sz="1150" dirty="0"/>
          </a:p>
        </p:txBody>
      </p:sp>
      <p:sp>
        <p:nvSpPr>
          <p:cNvPr id="49" name="Shape 38"/>
          <p:cNvSpPr/>
          <p:nvPr/>
        </p:nvSpPr>
        <p:spPr>
          <a:xfrm>
            <a:off x="4937760" y="4224528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5102352" y="4169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composition principles</a:t>
            </a:r>
            <a:endParaRPr lang="en-US" sz="1150" dirty="0"/>
          </a:p>
        </p:txBody>
      </p:sp>
      <p:sp>
        <p:nvSpPr>
          <p:cNvPr id="51" name="Shape 40"/>
          <p:cNvSpPr/>
          <p:nvPr/>
        </p:nvSpPr>
        <p:spPr>
          <a:xfrm>
            <a:off x="4937760" y="4608576"/>
            <a:ext cx="91440" cy="9144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5102352" y="4553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with cultural themes</a:t>
            </a:r>
            <a:endParaRPr lang="en-US" sz="1150" dirty="0"/>
          </a:p>
        </p:txBody>
      </p:sp>
      <p:sp>
        <p:nvSpPr>
          <p:cNvPr id="53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D4BB8A"/>
          </a:solidFill>
          <a:ln w="12700">
            <a:solidFill>
              <a:srgbClr val="D4BB8A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8 sessions, students go from zero experience to shipping a live AI-powered art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1B3A6B">
              <a:alpha val="0"/>
            </a:srgbClr>
          </a:solidFill>
          <a:ln w="25400">
            <a:solidFill>
              <a:srgbClr val="E887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1B3A6B">
              <a:alpha val="0"/>
            </a:srgbClr>
          </a:solidFill>
          <a:ln w="9525">
            <a:solidFill>
              <a:srgbClr val="F5B942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640080" cy="6400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94192" y="109728"/>
            <a:ext cx="640080" cy="6400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9728" y="4425696"/>
            <a:ext cx="640080" cy="6400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 flipV="1">
            <a:off x="8394192" y="4425696"/>
            <a:ext cx="640080" cy="64008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1097280"/>
            <a:ext cx="1280160" cy="169164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1097280"/>
            <a:ext cx="1280160" cy="169164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4528" y="457200"/>
            <a:ext cx="685800" cy="68580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History Meets</a:t>
            </a:r>
            <a:endParaRPr lang="en-US" sz="4200" dirty="0"/>
          </a:p>
        </p:txBody>
      </p:sp>
      <p:sp>
        <p:nvSpPr>
          <p:cNvPr id="13" name="Text 3"/>
          <p:cNvSpPr/>
          <p:nvPr/>
        </p:nvSpPr>
        <p:spPr>
          <a:xfrm>
            <a:off x="457200" y="20299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8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</a:t>
            </a:r>
            <a:endParaRPr lang="en-US" sz="4200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2907792"/>
            <a:ext cx="4572000" cy="201168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371600" y="3127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sessions. Zero experience. One extraordinary AI art app.</a:t>
            </a:r>
            <a:endParaRPr lang="en-US" sz="1400" dirty="0"/>
          </a:p>
        </p:txBody>
      </p:sp>
      <p:sp>
        <p:nvSpPr>
          <p:cNvPr id="16" name="Shape 5"/>
          <p:cNvSpPr/>
          <p:nvPr/>
        </p:nvSpPr>
        <p:spPr>
          <a:xfrm>
            <a:off x="3017520" y="3639312"/>
            <a:ext cx="1371600" cy="384048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7" name="Text 6"/>
          <p:cNvSpPr/>
          <p:nvPr/>
        </p:nvSpPr>
        <p:spPr>
          <a:xfrm>
            <a:off x="301752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of India</a:t>
            </a:r>
            <a:endParaRPr lang="en-US" sz="1050" dirty="0"/>
          </a:p>
        </p:txBody>
      </p:sp>
      <p:sp>
        <p:nvSpPr>
          <p:cNvPr id="18" name="Shape 7"/>
          <p:cNvSpPr/>
          <p:nvPr/>
        </p:nvSpPr>
        <p:spPr>
          <a:xfrm>
            <a:off x="4553712" y="3639312"/>
            <a:ext cx="1572768" cy="38404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8"/>
          <p:cNvSpPr/>
          <p:nvPr/>
        </p:nvSpPr>
        <p:spPr>
          <a:xfrm>
            <a:off x="4553712" y="3639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Studios</a:t>
            </a:r>
            <a:endParaRPr lang="en-US" sz="1050" dirty="0"/>
          </a:p>
        </p:txBody>
      </p:sp>
      <p:sp>
        <p:nvSpPr>
          <p:cNvPr id="20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0" y="4828032"/>
            <a:ext cx="9144000" cy="36576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2" name="Text 1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B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the next generation of AI creators — rooted in India's timeless legacy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– CreatED Studios × Times of India</dc:title>
  <dc:subject>PptxGenJS Presentation</dc:subject>
  <dc:creator>PptxGenJS</dc:creator>
  <cp:lastModifiedBy>PptxGenJS</cp:lastModifiedBy>
  <cp:revision>1</cp:revision>
  <dcterms:created xsi:type="dcterms:W3CDTF">2026-03-13T11:18:13Z</dcterms:created>
  <dcterms:modified xsi:type="dcterms:W3CDTF">2026-03-13T11:18:13Z</dcterms:modified>
</cp:coreProperties>
</file>